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999999"/>
                </a:solidFill>
              </a:rPr>
              <a:t>物理教师 · 牛顿第一定律 · 2025年春季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0AEEF"/>
                </a:solidFill>
              </a:rPr>
              <a:t>牛顿</a:t>
            </a:r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第一定律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揭开“运动与力”的真相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834640"/>
            <a:ext cx="1097280" cy="36576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3017520"/>
            <a:ext cx="1188720" cy="658368"/>
          </a:xfrm>
          <a:prstGeom prst="rect">
            <a:avLst/>
          </a:prstGeom>
          <a:solidFill>
            <a:srgbClr val="122B4F"/>
          </a:solidFill>
          <a:ln w="6350">
            <a:solidFill>
              <a:srgbClr val="2A4A7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3044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EEF"/>
                </a:solidFill>
              </a:rPr>
              <a:t>初三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33756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</a:rPr>
              <a:t>年级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828800" y="3017520"/>
            <a:ext cx="1188720" cy="658368"/>
          </a:xfrm>
          <a:prstGeom prst="rect">
            <a:avLst/>
          </a:prstGeom>
          <a:solidFill>
            <a:srgbClr val="122B4F"/>
          </a:solidFill>
          <a:ln w="6350">
            <a:solidFill>
              <a:srgbClr val="2A4A7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828800" y="3044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EEF"/>
                </a:solidFill>
              </a:rPr>
              <a:t>物理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828800" y="333756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</a:rPr>
              <a:t>学科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200400" y="3017520"/>
            <a:ext cx="1188720" cy="658368"/>
          </a:xfrm>
          <a:prstGeom prst="rect">
            <a:avLst/>
          </a:prstGeom>
          <a:solidFill>
            <a:srgbClr val="122B4F"/>
          </a:solidFill>
          <a:ln w="6350">
            <a:solidFill>
              <a:srgbClr val="2A4A7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0" y="3044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EEF"/>
                </a:solidFill>
              </a:rPr>
              <a:t>2课时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200400" y="333756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</a:rPr>
              <a:t>课时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4572000" y="3017520"/>
            <a:ext cx="1188720" cy="658368"/>
          </a:xfrm>
          <a:prstGeom prst="rect">
            <a:avLst/>
          </a:prstGeom>
          <a:solidFill>
            <a:srgbClr val="122B4F"/>
          </a:solidFill>
          <a:ln w="6350">
            <a:solidFill>
              <a:srgbClr val="2A4A7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0" y="3044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EEF"/>
                </a:solidFill>
              </a:rPr>
              <a:t>力学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2000" y="333756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</a:rPr>
              <a:t>模块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6400800" y="548640"/>
            <a:ext cx="2377440" cy="1188720"/>
          </a:xfrm>
          <a:prstGeom prst="rect">
            <a:avLst/>
          </a:prstGeom>
          <a:solidFill>
            <a:srgbClr val="122B4F"/>
          </a:solidFill>
          <a:ln w="6350">
            <a:solidFill>
              <a:srgbClr val="2A4A7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0" y="548640"/>
            <a:ext cx="54864" cy="118872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74980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EEF"/>
                </a:solidFill>
              </a:rPr>
              <a:t>亚里士多德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492240" y="11887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错误观点起源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400800" y="1965960"/>
            <a:ext cx="2377440" cy="1188720"/>
          </a:xfrm>
          <a:prstGeom prst="rect">
            <a:avLst/>
          </a:prstGeom>
          <a:solidFill>
            <a:srgbClr val="122B4F"/>
          </a:solidFill>
          <a:ln w="6350">
            <a:solidFill>
              <a:srgbClr val="2A4A7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0800" y="1965960"/>
            <a:ext cx="54864" cy="118872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216712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EEF"/>
                </a:solidFill>
              </a:rPr>
              <a:t>伽利略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492240" y="26060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理想实验奠基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400800" y="3383280"/>
            <a:ext cx="2377440" cy="1188720"/>
          </a:xfrm>
          <a:prstGeom prst="rect">
            <a:avLst/>
          </a:prstGeom>
          <a:solidFill>
            <a:srgbClr val="122B4F"/>
          </a:solidFill>
          <a:ln w="6350">
            <a:solidFill>
              <a:srgbClr val="2A4A7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00800" y="3383280"/>
            <a:ext cx="54864" cy="118872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358444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EEF"/>
                </a:solidFill>
              </a:rPr>
              <a:t>牛顿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492240" y="402336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定律正式提出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0AEEF"/>
                </a:solidFill>
              </a:rPr>
              <a:t>经验误区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力是维持运动的原因吗？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784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从生活直觉到科学质疑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56032" y="1417320"/>
            <a:ext cx="2788920" cy="3474720"/>
          </a:xfrm>
          <a:prstGeom prst="rect">
            <a:avLst/>
          </a:prstGeom>
          <a:solidFill>
            <a:srgbClr val="001A2A"/>
          </a:solidFill>
          <a:ln w="12700">
            <a:solidFill>
              <a:srgbClr val="00AE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417320"/>
            <a:ext cx="54864" cy="347472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581912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999999"/>
                </a:solidFill>
              </a:rPr>
              <a:t>ANCIENT BELIEF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93192" y="176479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亚里士多德观点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93192" y="216712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AEEF"/>
                </a:solidFill>
              </a:rPr>
              <a:t>2000+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93192" y="2770632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</a:rPr>
              <a:t>年统治思想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93192" y="2990088"/>
            <a:ext cx="365760" cy="27432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" y="313639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推车，松手后停下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93192" y="342900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认为：必须有力才能运动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93192" y="3721608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静止是“自然状态”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93192" y="4480560"/>
            <a:ext cx="822960" cy="219456"/>
          </a:xfrm>
          <a:prstGeom prst="roundRect">
            <a:avLst>
              <a:gd name="adj" fmla="val 20833"/>
            </a:avLst>
          </a:prstGeom>
          <a:solidFill>
            <a:srgbClr val="001A2A"/>
          </a:solidFill>
          <a:ln w="6350">
            <a:solidFill>
              <a:srgbClr val="00AE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" y="448056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AEEF"/>
                </a:solidFill>
              </a:rPr>
              <a:t>误区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200400" y="1417320"/>
            <a:ext cx="2788920" cy="3474720"/>
          </a:xfrm>
          <a:prstGeom prst="rect">
            <a:avLst/>
          </a:prstGeom>
          <a:solidFill>
            <a:srgbClr val="122B4F"/>
          </a:solidFill>
          <a:ln w="6350">
            <a:solidFill>
              <a:srgbClr val="2A4A7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1417320"/>
            <a:ext cx="54864" cy="347472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1581912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999999"/>
                </a:solidFill>
              </a:rPr>
              <a:t>EVERYDAY ILLUSION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337560" y="176479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生活错觉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337560" y="216712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AEEF"/>
                </a:solidFill>
              </a:rPr>
              <a:t>✓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3337560" y="2770632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</a:rPr>
              <a:t>看似合理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337560" y="2990088"/>
            <a:ext cx="365760" cy="27432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37560" y="313639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自行车不蹬就停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37560" y="342900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滑板滑不远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37560" y="3721608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球滚着滚着停下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337560" y="4480560"/>
            <a:ext cx="822960" cy="219456"/>
          </a:xfrm>
          <a:prstGeom prst="roundRect">
            <a:avLst>
              <a:gd name="adj" fmla="val 20833"/>
            </a:avLst>
          </a:prstGeom>
          <a:solidFill>
            <a:srgbClr val="001A2A"/>
          </a:solidFill>
          <a:ln w="6350">
            <a:solidFill>
              <a:srgbClr val="00AE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37560" y="448056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AEEF"/>
                </a:solidFill>
              </a:rPr>
              <a:t>观察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6144768" y="1417320"/>
            <a:ext cx="2788920" cy="3474720"/>
          </a:xfrm>
          <a:prstGeom prst="rect">
            <a:avLst/>
          </a:prstGeom>
          <a:solidFill>
            <a:srgbClr val="122B4F"/>
          </a:solidFill>
          <a:ln w="6350">
            <a:solidFill>
              <a:srgbClr val="2A4A7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44768" y="1417320"/>
            <a:ext cx="54864" cy="347472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81928" y="1581912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999999"/>
                </a:solidFill>
              </a:rPr>
              <a:t>SCIENTIFIC DOUBT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6281928" y="176479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科学质疑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281928" y="216712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AEEF"/>
                </a:solidFill>
              </a:rPr>
              <a:t>？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6281928" y="2770632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</a:rPr>
              <a:t>真的是这样吗？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6281928" y="2990088"/>
            <a:ext cx="365760" cy="27432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81928" y="313639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摩擦力在起作用？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81928" y="342900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若无阻力会怎样？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281928" y="3721608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运动真的需要力维持？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281928" y="4480560"/>
            <a:ext cx="822960" cy="219456"/>
          </a:xfrm>
          <a:prstGeom prst="roundRect">
            <a:avLst>
              <a:gd name="adj" fmla="val 20833"/>
            </a:avLst>
          </a:prstGeom>
          <a:solidFill>
            <a:srgbClr val="001A2A"/>
          </a:solidFill>
          <a:ln w="6350">
            <a:solidFill>
              <a:srgbClr val="00AE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81928" y="448056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AEEF"/>
                </a:solidFill>
              </a:rPr>
              <a:t>思考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0AEEF"/>
                </a:solidFill>
              </a:rPr>
              <a:t>实验探究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斜面小车实验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784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观察阻力对运动的影响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56032" y="1463040"/>
            <a:ext cx="4160520" cy="1508760"/>
          </a:xfrm>
          <a:prstGeom prst="rect">
            <a:avLst/>
          </a:prstGeom>
          <a:solidFill>
            <a:srgbClr val="122B4F"/>
          </a:solidFill>
          <a:ln w="6350">
            <a:solidFill>
              <a:srgbClr val="2A4A7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463040"/>
            <a:ext cx="54864" cy="150876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0624" y="1645920"/>
            <a:ext cx="411480" cy="411480"/>
          </a:xfrm>
          <a:prstGeom prst="ellipse">
            <a:avLst/>
          </a:prstGeom>
          <a:solidFill>
            <a:srgbClr val="001A2A"/>
          </a:solidFill>
          <a:ln w="6350">
            <a:solidFill>
              <a:srgbClr val="00AE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0" dirty="0">
                <a:solidFill>
                  <a:srgbClr val="000000"/>
                </a:solidFill>
              </a:rPr>
              <a:t>毛巾</a:t>
            </a:r>
            <a:endParaRPr lang="en-US" sz="990" dirty="0"/>
          </a:p>
        </p:txBody>
      </p:sp>
      <p:sp>
        <p:nvSpPr>
          <p:cNvPr id="9" name="Text 7"/>
          <p:cNvSpPr/>
          <p:nvPr/>
        </p:nvSpPr>
        <p:spPr>
          <a:xfrm>
            <a:off x="914400" y="162763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粗糙表面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1883664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</a:rPr>
              <a:t>High Friction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20624" y="217627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</a:rPr>
              <a:t>小车滑行距离短，很快停下。阻力大，运动状态改变快。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645152" y="1463040"/>
            <a:ext cx="4160520" cy="1508760"/>
          </a:xfrm>
          <a:prstGeom prst="rect">
            <a:avLst/>
          </a:prstGeom>
          <a:solidFill>
            <a:srgbClr val="122B4F"/>
          </a:solidFill>
          <a:ln w="6350">
            <a:solidFill>
              <a:srgbClr val="2A4A7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45152" y="1463040"/>
            <a:ext cx="54864" cy="150876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09744" y="1645920"/>
            <a:ext cx="411480" cy="411480"/>
          </a:xfrm>
          <a:prstGeom prst="ellipse">
            <a:avLst/>
          </a:prstGeom>
          <a:solidFill>
            <a:srgbClr val="001A2A"/>
          </a:solidFill>
          <a:ln w="6350">
            <a:solidFill>
              <a:srgbClr val="00AE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9744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0" dirty="0">
                <a:solidFill>
                  <a:srgbClr val="000000"/>
                </a:solidFill>
              </a:rPr>
              <a:t>棉布</a:t>
            </a:r>
            <a:endParaRPr lang="en-US" sz="990" dirty="0"/>
          </a:p>
        </p:txBody>
      </p:sp>
      <p:sp>
        <p:nvSpPr>
          <p:cNvPr id="16" name="Text 14"/>
          <p:cNvSpPr/>
          <p:nvPr/>
        </p:nvSpPr>
        <p:spPr>
          <a:xfrm>
            <a:off x="5303520" y="162763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中等表面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03520" y="1883664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</a:rPr>
              <a:t>Medium Friction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809744" y="217627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</a:rPr>
              <a:t>小车滑行距离中等。阻力减小，运动状态改变变慢。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56032" y="3154680"/>
            <a:ext cx="4160520" cy="1508760"/>
          </a:xfrm>
          <a:prstGeom prst="rect">
            <a:avLst/>
          </a:prstGeom>
          <a:solidFill>
            <a:srgbClr val="122B4F"/>
          </a:solidFill>
          <a:ln w="6350">
            <a:solidFill>
              <a:srgbClr val="2A4A7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3154680"/>
            <a:ext cx="54864" cy="150876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0624" y="3337560"/>
            <a:ext cx="411480" cy="411480"/>
          </a:xfrm>
          <a:prstGeom prst="ellipse">
            <a:avLst/>
          </a:prstGeom>
          <a:solidFill>
            <a:srgbClr val="001A2A"/>
          </a:solidFill>
          <a:ln w="6350">
            <a:solidFill>
              <a:srgbClr val="00AE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" y="3337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0" dirty="0">
                <a:solidFill>
                  <a:srgbClr val="000000"/>
                </a:solidFill>
              </a:rPr>
              <a:t>木板</a:t>
            </a:r>
            <a:endParaRPr lang="en-US" sz="990" dirty="0"/>
          </a:p>
        </p:txBody>
      </p:sp>
      <p:sp>
        <p:nvSpPr>
          <p:cNvPr id="23" name="Text 21"/>
          <p:cNvSpPr/>
          <p:nvPr/>
        </p:nvSpPr>
        <p:spPr>
          <a:xfrm>
            <a:off x="914400" y="331927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光滑表面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4400" y="3575304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</a:rPr>
              <a:t>Low Friction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20624" y="386791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</a:rPr>
              <a:t>小车滑行距离长。阻力越小，越接近匀速直线运动。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645152" y="3154680"/>
            <a:ext cx="4160520" cy="1508760"/>
          </a:xfrm>
          <a:prstGeom prst="rect">
            <a:avLst/>
          </a:prstGeom>
          <a:solidFill>
            <a:srgbClr val="122B4F"/>
          </a:solidFill>
          <a:ln w="6350">
            <a:solidFill>
              <a:srgbClr val="2A4A7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45152" y="3154680"/>
            <a:ext cx="54864" cy="150876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09744" y="3337560"/>
            <a:ext cx="411480" cy="411480"/>
          </a:xfrm>
          <a:prstGeom prst="ellipse">
            <a:avLst/>
          </a:prstGeom>
          <a:solidFill>
            <a:srgbClr val="001A2A"/>
          </a:solidFill>
          <a:ln w="6350">
            <a:solidFill>
              <a:srgbClr val="00AE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9744" y="3337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0" dirty="0">
                <a:solidFill>
                  <a:srgbClr val="000000"/>
                </a:solidFill>
              </a:rPr>
              <a:t>∞</a:t>
            </a:r>
            <a:endParaRPr lang="en-US" sz="990" dirty="0"/>
          </a:p>
        </p:txBody>
      </p:sp>
      <p:sp>
        <p:nvSpPr>
          <p:cNvPr id="30" name="Text 28"/>
          <p:cNvSpPr/>
          <p:nvPr/>
        </p:nvSpPr>
        <p:spPr>
          <a:xfrm>
            <a:off x="5303520" y="331927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理想光滑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303520" y="3575304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</a:rPr>
              <a:t>Zero Friction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809744" y="386791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</a:rPr>
              <a:t>若无摩擦，小车将永远匀速直线运动下去——伽利略理想实验。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0AEEF"/>
                </a:solidFill>
              </a:rPr>
              <a:t>科学推理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伽利略的理想实验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784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实验 + 推理 = 科学突破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56032" y="1417320"/>
            <a:ext cx="5303520" cy="3520440"/>
          </a:xfrm>
          <a:prstGeom prst="rect">
            <a:avLst/>
          </a:prstGeom>
          <a:solidFill>
            <a:srgbClr val="122B4F"/>
          </a:solidFill>
          <a:ln w="6350">
            <a:solidFill>
              <a:srgbClr val="2A4A7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38912" y="1554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99999"/>
                </a:solidFill>
              </a:rPr>
              <a:t>实验数据与推理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38912" y="18288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99999"/>
                </a:solidFill>
              </a:rPr>
              <a:t>表面类型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084832" y="18288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99999"/>
                </a:solidFill>
              </a:rPr>
              <a:t>阻力大小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273552" y="18288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99999"/>
                </a:solidFill>
              </a:rPr>
              <a:t>滑行距离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462272" y="18288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99999"/>
                </a:solidFill>
              </a:rPr>
              <a:t>运动趋势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47472" y="2057400"/>
            <a:ext cx="5120640" cy="18288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1671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毛巾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084832" y="21671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很大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73552" y="21671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很短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462272" y="21671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迅速停下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2496312"/>
            <a:ext cx="5120640" cy="9144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282549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棉布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084832" y="282549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较大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73552" y="282549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中等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462272" y="282549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逐渐停下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7472" y="3154680"/>
            <a:ext cx="5120640" cy="9144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48386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木板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084832" y="348386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较小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73552" y="348386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较长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462272" y="348386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缓慢停下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7472" y="3813048"/>
            <a:ext cx="5120640" cy="9144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41422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EEF"/>
                </a:solidFill>
              </a:rPr>
              <a:t>理想光滑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084832" y="41422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EEF"/>
                </a:solidFill>
              </a:rPr>
              <a:t>零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73552" y="41422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EEF"/>
                </a:solidFill>
              </a:rPr>
              <a:t>无限远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462272" y="41422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EEF"/>
                </a:solidFill>
              </a:rPr>
              <a:t>永远运动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742432" y="1417320"/>
            <a:ext cx="3017520" cy="1051560"/>
          </a:xfrm>
          <a:prstGeom prst="rect">
            <a:avLst/>
          </a:prstGeom>
          <a:solidFill>
            <a:srgbClr val="122B4F"/>
          </a:solidFill>
          <a:ln w="6350">
            <a:solidFill>
              <a:srgbClr val="2A4A7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742432" y="1417320"/>
            <a:ext cx="54864" cy="105156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79592" y="15087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AEEF"/>
                </a:solidFill>
              </a:rPr>
              <a:t>推理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5879592" y="203911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理想实验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879592" y="2240280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</a:rPr>
              <a:t>Ideal Experiment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5742432" y="2606040"/>
            <a:ext cx="3017520" cy="1051560"/>
          </a:xfrm>
          <a:prstGeom prst="rect">
            <a:avLst/>
          </a:prstGeom>
          <a:solidFill>
            <a:srgbClr val="122B4F"/>
          </a:solidFill>
          <a:ln w="6350">
            <a:solidFill>
              <a:srgbClr val="2A4A7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742432" y="2606040"/>
            <a:ext cx="54864" cy="105156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79592" y="26974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AEEF"/>
                </a:solidFill>
              </a:rPr>
              <a:t>结论</a:t>
            </a:r>
            <a:endParaRPr lang="en-US" sz="3600" dirty="0"/>
          </a:p>
        </p:txBody>
      </p:sp>
      <p:sp>
        <p:nvSpPr>
          <p:cNvPr id="39" name="Text 37"/>
          <p:cNvSpPr/>
          <p:nvPr/>
        </p:nvSpPr>
        <p:spPr>
          <a:xfrm>
            <a:off x="5879592" y="322783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力不是维持运动的原因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879592" y="3429000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</a:rPr>
              <a:t>Force ≠ Motion Sustainer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5742432" y="3794760"/>
            <a:ext cx="3017520" cy="1051560"/>
          </a:xfrm>
          <a:prstGeom prst="rect">
            <a:avLst/>
          </a:prstGeom>
          <a:solidFill>
            <a:srgbClr val="122B4F"/>
          </a:solidFill>
          <a:ln w="6350">
            <a:solidFill>
              <a:srgbClr val="2A4A7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742432" y="3794760"/>
            <a:ext cx="54864" cy="105156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79592" y="38862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AEEF"/>
                </a:solidFill>
              </a:rPr>
              <a:t>新观点</a:t>
            </a:r>
            <a:endParaRPr lang="en-US" sz="3600" dirty="0"/>
          </a:p>
        </p:txBody>
      </p:sp>
      <p:sp>
        <p:nvSpPr>
          <p:cNvPr id="44" name="Text 42"/>
          <p:cNvSpPr/>
          <p:nvPr/>
        </p:nvSpPr>
        <p:spPr>
          <a:xfrm>
            <a:off x="5879592" y="441655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力是改变运动状态的原因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879592" y="4617720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</a:rPr>
              <a:t>Force = Motion Changer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0AEEF"/>
                </a:solidFill>
              </a:rPr>
              <a:t>定律建立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牛顿第一定律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784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一切物体的运动本性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56032" y="1417320"/>
            <a:ext cx="2011680" cy="1417320"/>
          </a:xfrm>
          <a:prstGeom prst="rect">
            <a:avLst/>
          </a:prstGeom>
          <a:solidFill>
            <a:srgbClr val="122B4F"/>
          </a:solidFill>
          <a:ln w="6350">
            <a:solidFill>
              <a:srgbClr val="2A4A7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417320"/>
            <a:ext cx="54864" cy="141732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0020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AEEF"/>
                </a:solidFill>
              </a:rPr>
              <a:t>一切物体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365760" y="228600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All Objects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2551176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</a:rPr>
              <a:t>固体/液体/气体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432304" y="1417320"/>
            <a:ext cx="2011680" cy="1417320"/>
          </a:xfrm>
          <a:prstGeom prst="rect">
            <a:avLst/>
          </a:prstGeom>
          <a:solidFill>
            <a:srgbClr val="122B4F"/>
          </a:solidFill>
          <a:ln w="6350">
            <a:solidFill>
              <a:srgbClr val="2A4A7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32304" y="1417320"/>
            <a:ext cx="54864" cy="141732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42032" y="160020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AEEF"/>
                </a:solidFill>
              </a:rPr>
              <a:t>没有外力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2542032" y="228600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No Net Force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42032" y="2551176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</a:rPr>
              <a:t>合力为零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4608576" y="1417320"/>
            <a:ext cx="2011680" cy="1417320"/>
          </a:xfrm>
          <a:prstGeom prst="rect">
            <a:avLst/>
          </a:prstGeom>
          <a:solidFill>
            <a:srgbClr val="122B4F"/>
          </a:solidFill>
          <a:ln w="6350">
            <a:solidFill>
              <a:srgbClr val="2A4A7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08576" y="1417320"/>
            <a:ext cx="54864" cy="141732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18304" y="160020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AEEF"/>
                </a:solidFill>
              </a:rPr>
              <a:t>静止或匀速直线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4718304" y="228600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Rest or Uniform Motion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18304" y="2551176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</a:rPr>
              <a:t>保持原状态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6784848" y="1417320"/>
            <a:ext cx="2011680" cy="1417320"/>
          </a:xfrm>
          <a:prstGeom prst="rect">
            <a:avLst/>
          </a:prstGeom>
          <a:solidFill>
            <a:srgbClr val="001A2A"/>
          </a:solidFill>
          <a:ln w="12700">
            <a:solidFill>
              <a:srgbClr val="00AE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84848" y="1417320"/>
            <a:ext cx="54864" cy="141732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94576" y="160020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AEEF"/>
                </a:solidFill>
              </a:rPr>
              <a:t>惯性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6894576" y="228600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Inertia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94576" y="2551176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</a:rPr>
              <a:t>物体固有属性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256032" y="3063240"/>
            <a:ext cx="2788920" cy="1737360"/>
          </a:xfrm>
          <a:prstGeom prst="rect">
            <a:avLst/>
          </a:prstGeom>
          <a:solidFill>
            <a:srgbClr val="122B4F"/>
          </a:solidFill>
          <a:ln w="6350">
            <a:solidFill>
              <a:srgbClr val="2A4A7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56032" y="3063240"/>
            <a:ext cx="54864" cy="173736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0624" y="32278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99999"/>
                </a:solidFill>
              </a:rPr>
              <a:t>定义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20624" y="35204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EEF"/>
                </a:solidFill>
              </a:rPr>
              <a:t>物体保持原有运动状态的性质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420624" y="40690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一切物体在任何情况下都有惯性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00400" y="3063240"/>
            <a:ext cx="2788920" cy="1737360"/>
          </a:xfrm>
          <a:prstGeom prst="rect">
            <a:avLst/>
          </a:prstGeom>
          <a:solidFill>
            <a:srgbClr val="122B4F"/>
          </a:solidFill>
          <a:ln w="6350">
            <a:solidFill>
              <a:srgbClr val="2A4A7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0" y="3063240"/>
            <a:ext cx="54864" cy="173736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64992" y="32278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99999"/>
                </a:solidFill>
              </a:rPr>
              <a:t>关键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364992" y="35204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EEF"/>
                </a:solidFill>
              </a:rPr>
              <a:t>只与质量有关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3364992" y="40690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质量越大，惯性越大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144768" y="3063240"/>
            <a:ext cx="2788920" cy="1737360"/>
          </a:xfrm>
          <a:prstGeom prst="rect">
            <a:avLst/>
          </a:prstGeom>
          <a:solidFill>
            <a:srgbClr val="122B4F"/>
          </a:solidFill>
          <a:ln w="6350">
            <a:solidFill>
              <a:srgbClr val="2A4A7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44768" y="3063240"/>
            <a:ext cx="54864" cy="173736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09360" y="32278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99999"/>
                </a:solidFill>
              </a:rPr>
              <a:t>注意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309360" y="35204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EEF"/>
                </a:solidFill>
              </a:rPr>
              <a:t>惯性不是力！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6309360" y="40690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不能说“受到惯性作用”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0AEEF"/>
                </a:solidFill>
              </a:rPr>
              <a:t>生活应用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惯性现象解析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784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利用与危害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56032" y="1417320"/>
            <a:ext cx="8631936" cy="1463040"/>
          </a:xfrm>
          <a:prstGeom prst="rect">
            <a:avLst/>
          </a:prstGeom>
          <a:solidFill>
            <a:srgbClr val="122B4F"/>
          </a:solidFill>
          <a:ln w="6350">
            <a:solidFill>
              <a:srgbClr val="2A4A7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12648" y="1920240"/>
            <a:ext cx="146304" cy="146304"/>
          </a:xfrm>
          <a:prstGeom prst="ellipse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" y="1984248"/>
            <a:ext cx="1499616" cy="18288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53619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AEEF"/>
                </a:solidFill>
              </a:rPr>
              <a:t>刹车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28600" y="21488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人前倾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8600" y="239572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CCCCC"/>
                </a:solidFill>
              </a:rPr>
              <a:t>身体保持向前运动状态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CCCCC"/>
                </a:solidFill>
              </a:rPr>
              <a:t>安全带防止伤害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258568" y="1920240"/>
            <a:ext cx="146304" cy="146304"/>
          </a:xfrm>
          <a:prstGeom prst="ellipse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04872" y="1984248"/>
            <a:ext cx="1499616" cy="18288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74520" y="153619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AEEF"/>
                </a:solidFill>
              </a:rPr>
              <a:t>锤头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874520" y="21488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紧固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74520" y="239572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CCCCC"/>
                </a:solidFill>
              </a:rPr>
              <a:t>锤头因惯性继续向下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CCCCC"/>
                </a:solidFill>
              </a:rPr>
              <a:t>套紧手柄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904488" y="1920240"/>
            <a:ext cx="146304" cy="146304"/>
          </a:xfrm>
          <a:prstGeom prst="ellipse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50792" y="1984248"/>
            <a:ext cx="1499616" cy="18288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20440" y="153619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AEEF"/>
                </a:solidFill>
              </a:rPr>
              <a:t>泼水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520440" y="21488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水飞出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520440" y="239572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CCCCC"/>
                </a:solidFill>
              </a:rPr>
              <a:t>水因惯性保持运动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CCCCC"/>
                </a:solidFill>
              </a:rPr>
              <a:t>脱离容器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550408" y="1920240"/>
            <a:ext cx="146304" cy="146304"/>
          </a:xfrm>
          <a:prstGeom prst="ellipse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96712" y="1984248"/>
            <a:ext cx="1499616" cy="18288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66360" y="153619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AEEF"/>
                </a:solidFill>
              </a:rPr>
              <a:t>太空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166360" y="21488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宇航员飘浮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166360" y="239572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CCCCC"/>
                </a:solidFill>
              </a:rPr>
              <a:t>近似无外力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CCCCC"/>
                </a:solidFill>
              </a:rPr>
              <a:t>保持匀速直线或静止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7196328" y="1920240"/>
            <a:ext cx="146304" cy="146304"/>
          </a:xfrm>
          <a:prstGeom prst="ellipse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12280" y="153619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AEEF"/>
                </a:solidFill>
              </a:rPr>
              <a:t>拍衣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812280" y="21488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去灰尘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12280" y="239572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CCCCC"/>
                </a:solidFill>
              </a:rPr>
              <a:t>衣服运动，灰尘因惯性落下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56032" y="3090672"/>
            <a:ext cx="2788920" cy="1737360"/>
          </a:xfrm>
          <a:prstGeom prst="rect">
            <a:avLst/>
          </a:prstGeom>
          <a:solidFill>
            <a:srgbClr val="122B4F"/>
          </a:solidFill>
          <a:ln w="6350">
            <a:solidFill>
              <a:srgbClr val="2A4A7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56032" y="3090672"/>
            <a:ext cx="54864" cy="173736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3319272"/>
            <a:ext cx="411480" cy="411480"/>
          </a:xfrm>
          <a:prstGeom prst="ellipse">
            <a:avLst/>
          </a:prstGeom>
          <a:solidFill>
            <a:srgbClr val="001A2A"/>
          </a:solidFill>
          <a:ln w="6350">
            <a:solidFill>
              <a:srgbClr val="00AE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3192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0" dirty="0">
                <a:solidFill>
                  <a:srgbClr val="000000"/>
                </a:solidFill>
              </a:rPr>
              <a:t>⚠️</a:t>
            </a:r>
            <a:endParaRPr lang="en-US" sz="990" dirty="0"/>
          </a:p>
        </p:txBody>
      </p:sp>
      <p:sp>
        <p:nvSpPr>
          <p:cNvPr id="34" name="Text 32"/>
          <p:cNvSpPr/>
          <p:nvPr/>
        </p:nvSpPr>
        <p:spPr>
          <a:xfrm>
            <a:off x="1005840" y="3346704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危害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20624" y="386791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交通事故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物品掉落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运动损伤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00400" y="3090672"/>
            <a:ext cx="2788920" cy="1737360"/>
          </a:xfrm>
          <a:prstGeom prst="rect">
            <a:avLst/>
          </a:prstGeom>
          <a:solidFill>
            <a:srgbClr val="122B4F"/>
          </a:solidFill>
          <a:ln w="6350">
            <a:solidFill>
              <a:srgbClr val="2A4A7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00400" y="3090672"/>
            <a:ext cx="54864" cy="173736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401568" y="3319272"/>
            <a:ext cx="411480" cy="411480"/>
          </a:xfrm>
          <a:prstGeom prst="ellipse">
            <a:avLst/>
          </a:prstGeom>
          <a:solidFill>
            <a:srgbClr val="001A2A"/>
          </a:solidFill>
          <a:ln w="6350">
            <a:solidFill>
              <a:srgbClr val="00AE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01568" y="33192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0" dirty="0">
                <a:solidFill>
                  <a:srgbClr val="000000"/>
                </a:solidFill>
              </a:rPr>
              <a:t>✅</a:t>
            </a:r>
            <a:endParaRPr lang="en-US" sz="990" dirty="0"/>
          </a:p>
        </p:txBody>
      </p:sp>
      <p:sp>
        <p:nvSpPr>
          <p:cNvPr id="40" name="Text 38"/>
          <p:cNvSpPr/>
          <p:nvPr/>
        </p:nvSpPr>
        <p:spPr>
          <a:xfrm>
            <a:off x="3950208" y="3346704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利用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3364992" y="386791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投掷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紧固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分离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144768" y="3090672"/>
            <a:ext cx="2788920" cy="1737360"/>
          </a:xfrm>
          <a:prstGeom prst="rect">
            <a:avLst/>
          </a:prstGeom>
          <a:solidFill>
            <a:srgbClr val="122B4F"/>
          </a:solidFill>
          <a:ln w="6350">
            <a:solidFill>
              <a:srgbClr val="2A4A7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144768" y="3090672"/>
            <a:ext cx="54864" cy="173736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45936" y="3319272"/>
            <a:ext cx="411480" cy="411480"/>
          </a:xfrm>
          <a:prstGeom prst="ellipse">
            <a:avLst/>
          </a:prstGeom>
          <a:solidFill>
            <a:srgbClr val="001A2A"/>
          </a:solidFill>
          <a:ln w="6350">
            <a:solidFill>
              <a:srgbClr val="00AEE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45936" y="33192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0" dirty="0">
                <a:solidFill>
                  <a:srgbClr val="000000"/>
                </a:solidFill>
              </a:rPr>
              <a:t>🛡️</a:t>
            </a:r>
            <a:endParaRPr lang="en-US" sz="990" dirty="0"/>
          </a:p>
        </p:txBody>
      </p:sp>
      <p:sp>
        <p:nvSpPr>
          <p:cNvPr id="46" name="Text 44"/>
          <p:cNvSpPr/>
          <p:nvPr/>
        </p:nvSpPr>
        <p:spPr>
          <a:xfrm>
            <a:off x="6894576" y="3346704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防护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309360" y="386791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安全带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安全气囊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防滑设计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0AEEF"/>
                </a:solidFill>
              </a:rPr>
              <a:t>核心总结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三大核心要点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784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Key Takeaways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56032" y="1417320"/>
            <a:ext cx="3840480" cy="3520440"/>
          </a:xfrm>
          <a:prstGeom prst="rect">
            <a:avLst/>
          </a:prstGeom>
          <a:solidFill>
            <a:srgbClr val="001A2A"/>
          </a:solidFill>
          <a:ln w="12700">
            <a:solidFill>
              <a:srgbClr val="00AE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417320"/>
            <a:ext cx="54864" cy="352044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58191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00AEEF"/>
                </a:solidFill>
              </a:rPr>
              <a:t>牛顿第一定律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38912" y="18745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AEEF"/>
                </a:solidFill>
              </a:rPr>
              <a:t>一切物体总保持静止或匀速直线运动状态，除非受到外力作用。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38912" y="26517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揭示了运动与力的真实关系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292608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</a:rPr>
              <a:t>Newton's First Law of Motion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38912" y="3246120"/>
            <a:ext cx="3474720" cy="18288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3383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惯性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67712" y="33832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AEEF"/>
                </a:solidFill>
              </a:rPr>
              <a:t>物体固有属性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38587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质量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267712" y="38587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AEEF"/>
                </a:solidFill>
              </a:rPr>
              <a:t>决定惯性大小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8912" y="43342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力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67712" y="433425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AEEF"/>
                </a:solidFill>
              </a:rPr>
              <a:t>改变运动状态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279392" y="1417320"/>
            <a:ext cx="4608576" cy="1828800"/>
          </a:xfrm>
          <a:prstGeom prst="rect">
            <a:avLst/>
          </a:prstGeom>
          <a:solidFill>
            <a:srgbClr val="122B4F"/>
          </a:solidFill>
          <a:ln w="6350">
            <a:solidFill>
              <a:srgbClr val="2A4A7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79392" y="1417320"/>
            <a:ext cx="54864" cy="182880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62272" y="1554480"/>
            <a:ext cx="4334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99999"/>
                </a:solidFill>
              </a:rPr>
              <a:t>常见误区辨析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462272" y="1920240"/>
            <a:ext cx="73152" cy="73152"/>
          </a:xfrm>
          <a:prstGeom prst="ellipse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99432" y="1874520"/>
            <a:ext cx="4197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× 物体受力才能运动 → ✓ 运动不需要力维持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462272" y="2212848"/>
            <a:ext cx="73152" cy="73152"/>
          </a:xfrm>
          <a:prstGeom prst="ellipse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99432" y="2167128"/>
            <a:ext cx="4197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× 速度大惯性大 → ✓ 质量大惯性大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462272" y="2505456"/>
            <a:ext cx="73152" cy="73152"/>
          </a:xfrm>
          <a:prstGeom prst="ellipse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99432" y="2459736"/>
            <a:ext cx="4197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× 受到惯性作用 → ✓ 由于惯性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279392" y="3383280"/>
            <a:ext cx="4608576" cy="1554480"/>
          </a:xfrm>
          <a:prstGeom prst="rect">
            <a:avLst/>
          </a:prstGeom>
          <a:solidFill>
            <a:srgbClr val="122B4F"/>
          </a:solidFill>
          <a:ln w="6350">
            <a:solidFill>
              <a:srgbClr val="2A4A7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279392" y="3383280"/>
            <a:ext cx="54864" cy="155448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62272" y="3520440"/>
            <a:ext cx="4334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99999"/>
                </a:solidFill>
              </a:rPr>
              <a:t>科学方法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462272" y="3840480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001A2A"/>
          </a:solidFill>
          <a:ln w="6350">
            <a:solidFill>
              <a:srgbClr val="00AE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62272" y="38404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EEF"/>
                </a:solidFill>
              </a:rPr>
              <a:t>实验观察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605272" y="3840480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001A2A"/>
          </a:solidFill>
          <a:ln w="6350">
            <a:solidFill>
              <a:srgbClr val="00AE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05272" y="38404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EEF"/>
                </a:solidFill>
              </a:rPr>
              <a:t>理想推理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748272" y="3840480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001A2A"/>
          </a:solidFill>
          <a:ln w="6350">
            <a:solidFill>
              <a:srgbClr val="00AE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48272" y="38404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EEF"/>
                </a:solidFill>
              </a:rPr>
              <a:t>批判思维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462272" y="4251960"/>
            <a:ext cx="4334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伽利略开创了现代物理学研究方法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400" kern="0" dirty="0">
                <a:solidFill>
                  <a:srgbClr val="00AEEF"/>
                </a:solidFill>
              </a:rPr>
              <a:t>SUMMARY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迈向</a:t>
            </a:r>
            <a:pPr algn="ctr" indent="0" marL="0">
              <a:buNone/>
            </a:pPr>
            <a:r>
              <a:rPr lang="en-US" sz="4600" b="1" dirty="0">
                <a:solidFill>
                  <a:srgbClr val="00AEEF"/>
                </a:solidFill>
              </a:rPr>
              <a:t>科学思维</a:t>
            </a:r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 的物理课堂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457200" y="15361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理解运动本质，培养科学素养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2128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Science begins with doubt, thrives on reasoning.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05840" y="2743200"/>
            <a:ext cx="2286000" cy="1828800"/>
          </a:xfrm>
          <a:prstGeom prst="rect">
            <a:avLst/>
          </a:prstGeom>
          <a:solidFill>
            <a:srgbClr val="122B4F"/>
          </a:solidFill>
          <a:ln w="6350">
            <a:solidFill>
              <a:srgbClr val="2A4A7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05840" y="2743200"/>
            <a:ext cx="54864" cy="182880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92808" y="2926080"/>
            <a:ext cx="475488" cy="475488"/>
          </a:xfrm>
          <a:prstGeom prst="ellipse">
            <a:avLst/>
          </a:prstGeom>
          <a:solidFill>
            <a:srgbClr val="001A2A"/>
          </a:solidFill>
          <a:ln w="6350">
            <a:solidFill>
              <a:srgbClr val="00AE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92808" y="2926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dirty="0">
                <a:solidFill>
                  <a:srgbClr val="000000"/>
                </a:solidFill>
              </a:rPr>
              <a:t>🔬</a:t>
            </a:r>
            <a:endParaRPr lang="en-US" sz="1144" dirty="0"/>
          </a:p>
        </p:txBody>
      </p:sp>
      <p:sp>
        <p:nvSpPr>
          <p:cNvPr id="10" name="Text 8"/>
          <p:cNvSpPr/>
          <p:nvPr/>
        </p:nvSpPr>
        <p:spPr>
          <a:xfrm>
            <a:off x="1097280" y="354787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实验探究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391363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CCCCC"/>
                </a:solidFill>
              </a:rPr>
              <a:t>斜面小车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CCCCC"/>
                </a:solidFill>
              </a:rPr>
              <a:t>观察现象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566160" y="2743200"/>
            <a:ext cx="2286000" cy="1828800"/>
          </a:xfrm>
          <a:prstGeom prst="rect">
            <a:avLst/>
          </a:prstGeom>
          <a:solidFill>
            <a:srgbClr val="122B4F"/>
          </a:solidFill>
          <a:ln w="6350">
            <a:solidFill>
              <a:srgbClr val="2A4A7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66160" y="2743200"/>
            <a:ext cx="54864" cy="182880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53128" y="2926080"/>
            <a:ext cx="475488" cy="475488"/>
          </a:xfrm>
          <a:prstGeom prst="ellipse">
            <a:avLst/>
          </a:prstGeom>
          <a:solidFill>
            <a:srgbClr val="001A2A"/>
          </a:solidFill>
          <a:ln w="6350">
            <a:solidFill>
              <a:srgbClr val="00AE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53128" y="2926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dirty="0">
                <a:solidFill>
                  <a:srgbClr val="000000"/>
                </a:solidFill>
              </a:rPr>
              <a:t>🧠</a:t>
            </a:r>
            <a:endParaRPr lang="en-US" sz="1144" dirty="0"/>
          </a:p>
        </p:txBody>
      </p:sp>
      <p:sp>
        <p:nvSpPr>
          <p:cNvPr id="16" name="Text 14"/>
          <p:cNvSpPr/>
          <p:nvPr/>
        </p:nvSpPr>
        <p:spPr>
          <a:xfrm>
            <a:off x="3657600" y="354787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科学推理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57600" y="391363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CCCCC"/>
                </a:solidFill>
              </a:rPr>
              <a:t>理想实验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CCCCC"/>
                </a:solidFill>
              </a:rPr>
              <a:t>逻辑推演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26480" y="2743200"/>
            <a:ext cx="2286000" cy="1828800"/>
          </a:xfrm>
          <a:prstGeom prst="rect">
            <a:avLst/>
          </a:prstGeom>
          <a:solidFill>
            <a:srgbClr val="122B4F"/>
          </a:solidFill>
          <a:ln w="6350">
            <a:solidFill>
              <a:srgbClr val="2A4A7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2743200"/>
            <a:ext cx="54864" cy="182880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13448" y="2926080"/>
            <a:ext cx="475488" cy="475488"/>
          </a:xfrm>
          <a:prstGeom prst="ellipse">
            <a:avLst/>
          </a:prstGeom>
          <a:solidFill>
            <a:srgbClr val="001A2A"/>
          </a:solidFill>
          <a:ln w="6350">
            <a:solidFill>
              <a:srgbClr val="00AE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13448" y="2926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dirty="0">
                <a:solidFill>
                  <a:srgbClr val="000000"/>
                </a:solidFill>
              </a:rPr>
              <a:t>🌍</a:t>
            </a:r>
            <a:endParaRPr lang="en-US" sz="1144" dirty="0"/>
          </a:p>
        </p:txBody>
      </p:sp>
      <p:sp>
        <p:nvSpPr>
          <p:cNvPr id="22" name="Text 20"/>
          <p:cNvSpPr/>
          <p:nvPr/>
        </p:nvSpPr>
        <p:spPr>
          <a:xfrm>
            <a:off x="6217920" y="354787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生活联系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17920" y="391363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CCCCC"/>
                </a:solidFill>
              </a:rPr>
              <a:t>解释现象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CCCCC"/>
                </a:solidFill>
              </a:rPr>
              <a:t>指导实践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牛顿第一定律</dc:title>
  <dc:subject>PptxGenJS Presentation</dc:subject>
  <dc:creator>PptxGenJS</dc:creator>
  <cp:lastModifiedBy>PptxGenJS</cp:lastModifiedBy>
  <cp:revision>1</cp:revision>
  <dcterms:created xsi:type="dcterms:W3CDTF">2026-04-13T12:52:29Z</dcterms:created>
  <dcterms:modified xsi:type="dcterms:W3CDTF">2026-04-13T12:52:29Z</dcterms:modified>
</cp:coreProperties>
</file>